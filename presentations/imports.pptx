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18"/>
  </p:notesMasterIdLst>
  <p:sldIdLst>
    <p:sldId id="348" r:id="rId4"/>
    <p:sldId id="349" r:id="rId5"/>
    <p:sldId id="352" r:id="rId6"/>
    <p:sldId id="351" r:id="rId7"/>
    <p:sldId id="353" r:id="rId8"/>
    <p:sldId id="350" r:id="rId9"/>
    <p:sldId id="354" r:id="rId10"/>
    <p:sldId id="355" r:id="rId11"/>
    <p:sldId id="356" r:id="rId12"/>
    <p:sldId id="359" r:id="rId13"/>
    <p:sldId id="357" r:id="rId14"/>
    <p:sldId id="361" r:id="rId15"/>
    <p:sldId id="360" r:id="rId16"/>
    <p:sldId id="358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EABC"/>
    <a:srgbClr val="DF8E90"/>
    <a:srgbClr val="ADADAD"/>
    <a:srgbClr val="A592E7"/>
    <a:srgbClr val="DFAEAD"/>
    <a:srgbClr val="371754"/>
    <a:srgbClr val="421D62"/>
    <a:srgbClr val="2A133C"/>
    <a:srgbClr val="B9B2E7"/>
    <a:srgbClr val="8E7C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80"/>
    <p:restoredTop sz="94650"/>
  </p:normalViewPr>
  <p:slideViewPr>
    <p:cSldViewPr snapToGrid="0">
      <p:cViewPr varScale="1">
        <p:scale>
          <a:sx n="160" d="100"/>
          <a:sy n="160" d="100"/>
        </p:scale>
        <p:origin x="6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705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5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0801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Scrolling up to the top of that file, you can see that they’re making use of the standard lib to implement the standard lib – a fun exercise, if you’re that way inclined, is to find what bits of the standard library… don’t use the standard library, bit of a chicken and egg thing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85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9890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987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891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Probably swap to an example of a custom </a:t>
            </a:r>
            <a:r>
              <a:rPr lang="en-GB" dirty="0" err="1"/>
              <a:t>Println</a:t>
            </a:r>
            <a:r>
              <a:rPr lang="en-GB" dirty="0"/>
              <a:t> function not being available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571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311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1264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7573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0437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4181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285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2A13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lang/go/blob/7e196c0/src/fmt/print.go#L31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languages/g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15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Importing what?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30675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We’ve </a:t>
            </a:r>
            <a:r>
              <a:rPr lang="en-GB" dirty="0">
                <a:solidFill>
                  <a:srgbClr val="ADEABC"/>
                </a:solidFill>
              </a:rPr>
              <a:t>already</a:t>
            </a:r>
            <a:r>
              <a:rPr lang="en-GB" dirty="0"/>
              <a:t> been doing this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And you may have seen use of the keyword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As in: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65582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But where is </a:t>
            </a:r>
            <a:r>
              <a:rPr lang="en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" dirty="0"/>
              <a:t> coming from?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07381"/>
            <a:ext cx="8520600" cy="3384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There’s </a:t>
            </a:r>
            <a:r>
              <a:rPr lang="en-GB" dirty="0">
                <a:solidFill>
                  <a:srgbClr val="ADEABC"/>
                </a:solidFill>
              </a:rPr>
              <a:t>three</a:t>
            </a:r>
            <a:r>
              <a:rPr lang="en-GB" dirty="0"/>
              <a:t> main places from which you’ll source code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Can anyone guess which of these houses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6901C8-200A-590F-1BD9-EE83CC19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326285"/>
              </p:ext>
            </p:extLst>
          </p:nvPr>
        </p:nvGraphicFramePr>
        <p:xfrm>
          <a:off x="1104568" y="2029308"/>
          <a:ext cx="6934863" cy="2013712"/>
        </p:xfrm>
        <a:graphic>
          <a:graphicData uri="http://schemas.openxmlformats.org/drawingml/2006/table">
            <a:tbl>
              <a:tblPr firstRow="1" bandRow="1">
                <a:tableStyleId>{B2620347-C025-4E77-A790-17E104F87EA8}</a:tableStyleId>
              </a:tblPr>
              <a:tblGrid>
                <a:gridCol w="2458051">
                  <a:extLst>
                    <a:ext uri="{9D8B030D-6E8A-4147-A177-3AD203B41FA5}">
                      <a16:colId xmlns:a16="http://schemas.microsoft.com/office/drawing/2014/main" val="2800135755"/>
                    </a:ext>
                  </a:extLst>
                </a:gridCol>
                <a:gridCol w="4476812">
                  <a:extLst>
                    <a:ext uri="{9D8B030D-6E8A-4147-A177-3AD203B41FA5}">
                      <a16:colId xmlns:a16="http://schemas.microsoft.com/office/drawing/2014/main" val="2302584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i="1" dirty="0">
                          <a:solidFill>
                            <a:srgbClr val="ADADAD"/>
                          </a:solidFill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i="1" dirty="0">
                          <a:solidFill>
                            <a:srgbClr val="ADADAD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38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Standard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Built into 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the Go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98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Internal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Functions defined in another file </a:t>
                      </a:r>
                      <a:r>
                        <a:rPr lang="en-US" sz="16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in </a:t>
                      </a:r>
                      <a:r>
                        <a:rPr lang="en-US" sz="1600" i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your</a:t>
                      </a:r>
                      <a:r>
                        <a:rPr lang="en-US" sz="1600" i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 project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398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DFAEAD"/>
                          </a:solidFill>
                        </a:rPr>
                        <a:t>External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DFAEAD"/>
                          </a:solidFill>
                        </a:rPr>
                        <a:t>External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 to the project, maintained by an </a:t>
                      </a:r>
                      <a:r>
                        <a:rPr lang="en-US" sz="1600" dirty="0">
                          <a:solidFill>
                            <a:srgbClr val="DFAEAD"/>
                          </a:solidFill>
                        </a:rPr>
                        <a:t>external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 team (</a:t>
                      </a:r>
                      <a:r>
                        <a:rPr lang="en-US" sz="1200" dirty="0">
                          <a:solidFill>
                            <a:srgbClr val="DF8E90"/>
                          </a:solidFill>
                        </a:rPr>
                        <a:t>you’d hope</a:t>
                      </a:r>
                      <a:r>
                        <a:rPr lang="en-US" sz="1600" dirty="0">
                          <a:solidFill>
                            <a:srgbClr val="ADADAD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963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9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chemeClr val="accent4">
                    <a:lumMod val="75000"/>
                  </a:schemeClr>
                </a:solidFill>
              </a:rPr>
              <a:t>Standard</a:t>
            </a:r>
            <a:r>
              <a:rPr lang="en" dirty="0"/>
              <a:t> </a:t>
            </a: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Library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07381"/>
            <a:ext cx="8520600" cy="3384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Most languages come with what’s known as a “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standard</a:t>
            </a:r>
            <a:r>
              <a:rPr lang="en-GB" dirty="0"/>
              <a:t>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library</a:t>
            </a:r>
            <a:r>
              <a:rPr lang="en-GB" dirty="0"/>
              <a:t>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These are </a:t>
            </a:r>
            <a:r>
              <a:rPr lang="en-GB" dirty="0">
                <a:solidFill>
                  <a:srgbClr val="ADEABC"/>
                </a:solidFill>
              </a:rPr>
              <a:t>packaged with the Go compiler </a:t>
            </a:r>
            <a:r>
              <a:rPr lang="en-GB" dirty="0"/>
              <a:t>and maintained by the Go team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You </a:t>
            </a:r>
            <a:r>
              <a:rPr lang="en-GB" dirty="0">
                <a:solidFill>
                  <a:srgbClr val="DF8E90"/>
                </a:solidFill>
              </a:rPr>
              <a:t>don’t</a:t>
            </a:r>
            <a:r>
              <a:rPr lang="en-GB" dirty="0"/>
              <a:t> need to go off to the internet to find and use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It is a library of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functions</a:t>
            </a:r>
            <a:r>
              <a:rPr lang="en-GB" dirty="0"/>
              <a:t>, </a:t>
            </a: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standard</a:t>
            </a:r>
            <a:r>
              <a:rPr lang="en-GB" dirty="0"/>
              <a:t> to Go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fact, our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dirty="0"/>
              <a:t> is </a:t>
            </a:r>
            <a:r>
              <a:rPr lang="en-GB" dirty="0">
                <a:hlinkClick r:id="rId3"/>
              </a:rPr>
              <a:t>right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29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chemeClr val="tx1"/>
                </a:solidFill>
              </a:rPr>
              <a:t>Standard Library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301655" y="1407381"/>
            <a:ext cx="4737378" cy="3384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"math"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"Square root of 9 is: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.\n"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407381"/>
            <a:ext cx="3695757" cy="338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There’s </a:t>
            </a:r>
            <a:r>
              <a:rPr lang="en-GB" dirty="0">
                <a:solidFill>
                  <a:srgbClr val="ADEABC"/>
                </a:solidFill>
              </a:rPr>
              <a:t>lots of libraries </a:t>
            </a:r>
            <a:r>
              <a:rPr lang="en-GB" dirty="0"/>
              <a:t>you can make use of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That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name</a:t>
            </a:r>
            <a:r>
              <a:rPr lang="en-GB" dirty="0"/>
              <a:t> of the library is usually the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identifier</a:t>
            </a:r>
            <a:r>
              <a:rPr lang="en-GB" dirty="0"/>
              <a:t> used to access it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I.e. we </a:t>
            </a: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import</a:t>
            </a:r>
            <a:r>
              <a:rPr lang="en-GB" dirty="0"/>
              <a:t>ed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GB" dirty="0"/>
              <a:t> and then used 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GB" dirty="0"/>
              <a:t> as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math.Sqtr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332840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“imported”?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376233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 what exactly is this doing?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DF8E90"/>
                </a:solidFill>
              </a:rPr>
              <a:t>Not every function </a:t>
            </a:r>
            <a:r>
              <a:rPr lang="en-GB" dirty="0"/>
              <a:t>available in the Go language is available to you immediately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That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GB" dirty="0"/>
              <a:t> provided by Go needs to be “</a:t>
            </a:r>
            <a:r>
              <a:rPr lang="en-GB" dirty="0">
                <a:solidFill>
                  <a:srgbClr val="ADEABC"/>
                </a:solidFill>
              </a:rPr>
              <a:t>added</a:t>
            </a:r>
            <a:r>
              <a:rPr lang="en-GB" dirty="0"/>
              <a:t>” to your program for its use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Otherwise, if </a:t>
            </a:r>
            <a:r>
              <a:rPr lang="en-GB" i="1" dirty="0">
                <a:solidFill>
                  <a:srgbClr val="DF8E90"/>
                </a:solidFill>
              </a:rPr>
              <a:t>every</a:t>
            </a:r>
            <a:r>
              <a:rPr lang="en-GB" dirty="0"/>
              <a:t> function was included in </a:t>
            </a:r>
            <a:r>
              <a:rPr lang="en-GB" i="1" dirty="0">
                <a:solidFill>
                  <a:srgbClr val="DF8E90"/>
                </a:solidFill>
              </a:rPr>
              <a:t>every</a:t>
            </a:r>
            <a:r>
              <a:rPr lang="en-GB" dirty="0"/>
              <a:t> project, the binary would be </a:t>
            </a:r>
            <a:r>
              <a:rPr lang="en-GB" i="1" dirty="0">
                <a:solidFill>
                  <a:srgbClr val="DF8E90"/>
                </a:solidFill>
              </a:rPr>
              <a:t>huge</a:t>
            </a:r>
            <a:r>
              <a:rPr lang="en-GB" dirty="0"/>
              <a:t> with most of it not used…</a:t>
            </a:r>
          </a:p>
        </p:txBody>
      </p:sp>
    </p:spTree>
    <p:extLst>
      <p:ext uri="{BB962C8B-B14F-4D97-AF65-F5344CB8AC3E}">
        <p14:creationId xmlns:p14="http://schemas.microsoft.com/office/powerpoint/2010/main" val="284511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Imports, Grouping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18775" y="763325"/>
            <a:ext cx="4737378" cy="4028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"math"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"Square root of 9 is: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.\n"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741335"/>
            <a:ext cx="3695757" cy="305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Like with </a:t>
            </a: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dirty="0"/>
              <a:t> statements, we can group these together with </a:t>
            </a:r>
            <a:r>
              <a:rPr lang="en-GB" dirty="0">
                <a:solidFill>
                  <a:srgbClr val="B9B2E7"/>
                </a:solidFill>
              </a:rPr>
              <a:t>parentheses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B9B2E7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A little </a:t>
            </a:r>
            <a:r>
              <a:rPr lang="en-GB" dirty="0">
                <a:solidFill>
                  <a:srgbClr val="ADEABC"/>
                </a:solidFill>
              </a:rPr>
              <a:t>cleaner</a:t>
            </a:r>
            <a:r>
              <a:rPr lang="en-GB" dirty="0">
                <a:solidFill>
                  <a:srgbClr val="ADADAD"/>
                </a:solidFill>
              </a:rPr>
              <a:t> as you use more and more imports</a:t>
            </a:r>
          </a:p>
        </p:txBody>
      </p:sp>
    </p:spTree>
    <p:extLst>
      <p:ext uri="{BB962C8B-B14F-4D97-AF65-F5344CB8AC3E}">
        <p14:creationId xmlns:p14="http://schemas.microsoft.com/office/powerpoint/2010/main" val="277878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Imports, Scoping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18775" y="1407381"/>
            <a:ext cx="4737378" cy="3384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"math"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  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"</a:t>
            </a:r>
            <a:r>
              <a:rPr lang="en-GB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"Square root of 9 is: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.\n"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Sqrt(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"math."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407381"/>
            <a:ext cx="3695757" cy="338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If you don’t want the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/>
              <a:t> prefix, you can bring </a:t>
            </a:r>
            <a:r>
              <a:rPr lang="en-GB" i="1" dirty="0">
                <a:solidFill>
                  <a:srgbClr val="DF8E90"/>
                </a:solidFill>
              </a:rPr>
              <a:t>every</a:t>
            </a:r>
            <a:r>
              <a:rPr lang="en-GB" dirty="0"/>
              <a:t> function in the library into the current scope...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However, this </a:t>
            </a:r>
            <a:r>
              <a:rPr lang="en-GB" dirty="0">
                <a:solidFill>
                  <a:srgbClr val="DF8E90"/>
                </a:solidFill>
              </a:rPr>
              <a:t>isn’t really advisable </a:t>
            </a:r>
            <a:r>
              <a:rPr lang="en-GB" dirty="0"/>
              <a:t>with most libraries you haven’t written yourself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As it clutters the namespace</a:t>
            </a:r>
          </a:p>
        </p:txBody>
      </p:sp>
    </p:spTree>
    <p:extLst>
      <p:ext uri="{BB962C8B-B14F-4D97-AF65-F5344CB8AC3E}">
        <p14:creationId xmlns:p14="http://schemas.microsoft.com/office/powerpoint/2010/main" val="2687190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Imports, Mandatory Usage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420925" y="1407381"/>
            <a:ext cx="4435228" cy="3384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{}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go run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main.go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command-line-arguments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./main.go:4:8: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imported and not used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606163"/>
            <a:ext cx="4045614" cy="318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If you import a module, </a:t>
            </a:r>
            <a:r>
              <a:rPr lang="en-GB" dirty="0">
                <a:solidFill>
                  <a:srgbClr val="DF8E90"/>
                </a:solidFill>
              </a:rPr>
              <a:t>it is mandatory to use it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Otherwise, </a:t>
            </a:r>
            <a:r>
              <a:rPr lang="en-GB" dirty="0">
                <a:solidFill>
                  <a:srgbClr val="DF8E90"/>
                </a:solidFill>
              </a:rPr>
              <a:t>the compiler will complain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And editor integration, e.g. for </a:t>
            </a:r>
            <a:r>
              <a:rPr lang="en-GB" i="1" dirty="0">
                <a:solidFill>
                  <a:srgbClr val="ADADAD"/>
                </a:solidFill>
                <a:hlinkClick r:id="rId3"/>
              </a:rPr>
              <a:t>VSCode</a:t>
            </a: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will certainly help with this</a:t>
            </a:r>
          </a:p>
        </p:txBody>
      </p:sp>
    </p:spTree>
    <p:extLst>
      <p:ext uri="{BB962C8B-B14F-4D97-AF65-F5344CB8AC3E}">
        <p14:creationId xmlns:p14="http://schemas.microsoft.com/office/powerpoint/2010/main" val="162400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908065"/>
            <a:ext cx="8520600" cy="1765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tx1"/>
                </a:solidFill>
              </a:rPr>
              <a:t>Demo</a:t>
            </a:r>
            <a:br>
              <a:rPr lang="en" dirty="0">
                <a:solidFill>
                  <a:schemeClr val="tx1"/>
                </a:solidFill>
              </a:rPr>
            </a:br>
            <a:br>
              <a:rPr lang="en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Importing something in the standard</a:t>
            </a:r>
            <a:br>
              <a:rPr lang="en" sz="2400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library in a few different ways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67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Internal Libraries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12424" y="628153"/>
            <a:ext cx="5031576" cy="41640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/user/project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/mod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solidFill>
                  <a:srgbClr val="DF8E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.MyFunc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project/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┕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mod/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┕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source.go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contains </a:t>
            </a:r>
            <a:r>
              <a:rPr lang="en-GB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407381"/>
            <a:ext cx="3695757" cy="338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Usually, you’d give the </a:t>
            </a:r>
            <a:r>
              <a:rPr lang="en-GB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full path of the module </a:t>
            </a:r>
            <a:r>
              <a:rPr lang="en-GB" dirty="0"/>
              <a:t>(</a:t>
            </a:r>
            <a:r>
              <a:rPr lang="en-GB" sz="1400" dirty="0"/>
              <a:t>often a </a:t>
            </a:r>
            <a:r>
              <a:rPr lang="en-GB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Git URL</a:t>
            </a:r>
            <a:r>
              <a:rPr lang="en-GB" dirty="0"/>
              <a:t>) 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Followed by the </a:t>
            </a:r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repository path to directory containing the file</a:t>
            </a:r>
            <a:r>
              <a:rPr lang="en-GB" dirty="0"/>
              <a:t>...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With the </a:t>
            </a:r>
            <a:r>
              <a:rPr lang="en-GB" dirty="0">
                <a:solidFill>
                  <a:srgbClr val="DF8E90"/>
                </a:solidFill>
              </a:rPr>
              <a:t>final path element </a:t>
            </a:r>
            <a:r>
              <a:rPr lang="en-GB" dirty="0"/>
              <a:t>being the </a:t>
            </a:r>
            <a:r>
              <a:rPr lang="en-GB" dirty="0">
                <a:solidFill>
                  <a:srgbClr val="DF8E90"/>
                </a:solidFill>
              </a:rPr>
              <a:t>identifier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Better with an example</a:t>
            </a:r>
          </a:p>
        </p:txBody>
      </p:sp>
    </p:spTree>
    <p:extLst>
      <p:ext uri="{BB962C8B-B14F-4D97-AF65-F5344CB8AC3E}">
        <p14:creationId xmlns:p14="http://schemas.microsoft.com/office/powerpoint/2010/main" val="399950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908065"/>
            <a:ext cx="8520600" cy="1765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tx1"/>
                </a:solidFill>
              </a:rPr>
              <a:t>Demo</a:t>
            </a:r>
            <a:br>
              <a:rPr lang="en" dirty="0">
                <a:solidFill>
                  <a:schemeClr val="tx1"/>
                </a:solidFill>
              </a:rPr>
            </a:br>
            <a:br>
              <a:rPr lang="en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Importing an internal library file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54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External Libraries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12424" y="1876507"/>
            <a:ext cx="5031576" cy="2915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fatih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color.Cyan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 am </a:t>
            </a:r>
            <a:r>
              <a:rPr lang="en-GB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colorful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6721C4A-7361-595F-2114-AD3963C9ABEC}"/>
              </a:ext>
            </a:extLst>
          </p:cNvPr>
          <p:cNvSpPr txBox="1">
            <a:spLocks/>
          </p:cNvSpPr>
          <p:nvPr/>
        </p:nvSpPr>
        <p:spPr>
          <a:xfrm>
            <a:off x="287847" y="1407381"/>
            <a:ext cx="3695757" cy="338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/>
              <a:t>This is </a:t>
            </a:r>
            <a:r>
              <a:rPr lang="en-GB" dirty="0">
                <a:solidFill>
                  <a:srgbClr val="ADEABC"/>
                </a:solidFill>
              </a:rPr>
              <a:t>exactly how it works for internal libraries </a:t>
            </a:r>
            <a:r>
              <a:rPr lang="en-GB" dirty="0"/>
              <a:t>too...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0" indent="0" algn="ctr">
              <a:buFont typeface="Arial"/>
              <a:buNone/>
            </a:pPr>
            <a:r>
              <a:rPr lang="en-GB" dirty="0"/>
              <a:t>Only these </a:t>
            </a:r>
            <a:r>
              <a:rPr lang="en-GB" dirty="0">
                <a:solidFill>
                  <a:srgbClr val="DF8E90"/>
                </a:solidFill>
              </a:rPr>
              <a:t>aren’t magically available to you</a:t>
            </a:r>
            <a:r>
              <a:rPr lang="en-GB" dirty="0"/>
              <a:t>, you need to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go</a:t>
            </a:r>
            <a:r>
              <a:rPr lang="en-GB" dirty="0"/>
              <a:t> and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get</a:t>
            </a:r>
            <a:r>
              <a:rPr lang="en-GB" dirty="0"/>
              <a:t> the libraries</a:t>
            </a:r>
          </a:p>
          <a:p>
            <a:pPr marL="0" indent="0" algn="ctr">
              <a:buFont typeface="Arial"/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sz="20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 get ...</a:t>
            </a:r>
          </a:p>
          <a:p>
            <a:pPr marL="457200" lvl="1" indent="0">
              <a:buNone/>
            </a:pPr>
            <a:r>
              <a:rPr lang="en-GB" sz="20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 mod tidy</a:t>
            </a:r>
          </a:p>
        </p:txBody>
      </p:sp>
    </p:spTree>
    <p:extLst>
      <p:ext uri="{BB962C8B-B14F-4D97-AF65-F5344CB8AC3E}">
        <p14:creationId xmlns:p14="http://schemas.microsoft.com/office/powerpoint/2010/main" val="1381580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622065"/>
            <a:ext cx="8520600" cy="2592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tx1"/>
                </a:solidFill>
              </a:rPr>
              <a:t>Mini-demo</a:t>
            </a:r>
            <a:br>
              <a:rPr lang="en" dirty="0">
                <a:solidFill>
                  <a:schemeClr val="tx1"/>
                </a:solidFill>
              </a:rPr>
            </a:br>
            <a:br>
              <a:rPr lang="en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Importing an external library file</a:t>
            </a:r>
            <a:br>
              <a:rPr lang="en" sz="2400" dirty="0">
                <a:solidFill>
                  <a:schemeClr val="tx1"/>
                </a:solidFill>
              </a:rPr>
            </a:br>
            <a:br>
              <a:rPr lang="en" sz="2400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(</a:t>
            </a:r>
            <a:r>
              <a:rPr lang="en" sz="1800" dirty="0">
                <a:solidFill>
                  <a:schemeClr val="tx1"/>
                </a:solidFill>
              </a:rPr>
              <a:t>This is a bit of a stretch goal…</a:t>
            </a:r>
            <a:r>
              <a:rPr lang="en" sz="2400" dirty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3053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784</Words>
  <Application>Microsoft Macintosh PowerPoint</Application>
  <PresentationFormat>On-screen Show (16:9)</PresentationFormat>
  <Paragraphs>144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Simple Dark</vt:lpstr>
      <vt:lpstr>Imports</vt:lpstr>
      <vt:lpstr>Importing what?</vt:lpstr>
      <vt:lpstr>But where is fmt coming from?</vt:lpstr>
      <vt:lpstr>The Standard Library</vt:lpstr>
      <vt:lpstr>The Standard Library</vt:lpstr>
      <vt:lpstr>What is “imported”?</vt:lpstr>
      <vt:lpstr>Imports, Grouping</vt:lpstr>
      <vt:lpstr>Imports, Scoping</vt:lpstr>
      <vt:lpstr>Imports, Mandatory Usage</vt:lpstr>
      <vt:lpstr>Demo  Importing something in the standard library in a few different ways</vt:lpstr>
      <vt:lpstr>Internal Libraries</vt:lpstr>
      <vt:lpstr>Demo  Importing an internal library file</vt:lpstr>
      <vt:lpstr>External Libraries</vt:lpstr>
      <vt:lpstr>Mini-demo  Importing an external library file  (This is a bit of a stretch goal…)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12</cp:revision>
  <dcterms:modified xsi:type="dcterms:W3CDTF">2024-05-27T13:35:49Z</dcterms:modified>
</cp:coreProperties>
</file>